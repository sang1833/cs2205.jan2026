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0696575" cy="15116175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>
        <p:scale>
          <a:sx n="100" d="100"/>
          <a:sy n="100" d="100"/>
        </p:scale>
        <p:origin x="456" y="-60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49">
            <a:extLst>
              <a:ext uri="{FF2B5EF4-FFF2-40B4-BE49-F238E27FC236}">
                <a16:creationId xmlns:a16="http://schemas.microsoft.com/office/drawing/2014/main" id="{7E0C2402-DA30-4CE4-944D-303BC021ADB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0694194" cy="15116175"/>
          </a:xfrm>
          <a:prstGeom prst="rect">
            <a:avLst/>
          </a:prstGeom>
          <a:solidFill>
            <a:srgbClr val="F7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6B5AAEA-E2EE-4CF8-8469-767AAEF9B36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0694194" cy="2085975"/>
          </a:xfrm>
          <a:prstGeom prst="rect">
            <a:avLst/>
          </a:prstGeom>
          <a:solidFill>
            <a:srgbClr val="153B4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0499EEB-1085-42D5-B279-771114CE906B}"/>
              </a:ext>
            </a:extLst>
          </p:cNvPr>
          <p:cNvSpPr>
            <a:spLocks noGrp="1"/>
          </p:cNvSpPr>
          <p:nvPr/>
        </p:nvSpPr>
        <p:spPr>
          <a:xfrm>
            <a:off x="0" y="2043113"/>
            <a:ext cx="10694194" cy="57150"/>
          </a:xfrm>
          <a:prstGeom prst="rect">
            <a:avLst/>
          </a:prstGeom>
          <a:solidFill>
            <a:srgbClr val="E49A2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2A87836-7710-4306-B3E5-B408CC8F20F4}"/>
              </a:ext>
            </a:extLst>
          </p:cNvPr>
          <p:cNvSpPr>
            <a:spLocks noGrp="1"/>
          </p:cNvSpPr>
          <p:nvPr/>
        </p:nvSpPr>
        <p:spPr>
          <a:xfrm>
            <a:off x="457200" y="285750"/>
            <a:ext cx="5572125" cy="24288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69" b="1">
                <a:solidFill>
                  <a:srgbClr val="D7F2EE"/>
                </a:solidFill>
                <a:latin typeface="Aptos"/>
                <a:ea typeface="Aptos"/>
                <a:cs typeface="Aptos"/>
              </a:defRPr>
            </a:pPr>
            <a:r>
              <a:rPr sz="1069" b="1">
                <a:solidFill>
                  <a:srgbClr val="D7F2EE"/>
                </a:solidFill>
                <a:latin typeface="Aptos"/>
                <a:ea typeface="Aptos"/>
                <a:cs typeface="Aptos"/>
              </a:rPr>
              <a:t>CS2205.JAN2026 | POSTER ĐỒ ÁN CUỐI KỲ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1D72552-E39F-4AB4-8FAD-EC703F7C3C07}"/>
              </a:ext>
            </a:extLst>
          </p:cNvPr>
          <p:cNvSpPr>
            <a:spLocks noGrp="1"/>
          </p:cNvSpPr>
          <p:nvPr/>
        </p:nvSpPr>
        <p:spPr>
          <a:xfrm>
            <a:off x="457200" y="614363"/>
            <a:ext cx="8429625" cy="92868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MÔ HÌNH </a:t>
            </a:r>
            <a:r>
              <a:rPr lang="en-US" sz="20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HỌC MÁY </a:t>
            </a:r>
            <a:r>
              <a:rPr sz="20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CẢNH BÁO SỚM CÓ GIẢI THÍCH</a:t>
            </a:r>
          </a:p>
          <a:p>
            <a:pPr algn="l">
              <a:defRPr sz="20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CHO RỦI RO VƯỢT CHI PHÍ VÀ TIẾN ĐỘ DỰ ÁN</a:t>
            </a:r>
          </a:p>
          <a:p>
            <a:pPr algn="l">
              <a:defRPr sz="20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DỰA TRÊN EVM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3225B39-050D-4B8C-BF18-CA562B820C12}"/>
              </a:ext>
            </a:extLst>
          </p:cNvPr>
          <p:cNvSpPr>
            <a:spLocks noGrp="1"/>
          </p:cNvSpPr>
          <p:nvPr/>
        </p:nvSpPr>
        <p:spPr>
          <a:xfrm>
            <a:off x="457200" y="1585913"/>
            <a:ext cx="7858125" cy="3143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56" b="0">
                <a:solidFill>
                  <a:srgbClr val="ECF8F6"/>
                </a:solidFill>
                <a:latin typeface="Aptos"/>
                <a:ea typeface="Aptos"/>
                <a:cs typeface="Aptos"/>
              </a:defRPr>
            </a:pPr>
            <a:r>
              <a:rPr sz="956" b="0">
                <a:solidFill>
                  <a:srgbClr val="ECF8F6"/>
                </a:solidFill>
                <a:latin typeface="Aptos"/>
                <a:ea typeface="Aptos"/>
                <a:cs typeface="Aptos"/>
              </a:rPr>
              <a:t>Nguyễn Thanh Sang | Trường Đại học Công nghệ Thông tin, ĐHQG-HCM</a:t>
            </a:r>
          </a:p>
          <a:p>
            <a:pPr algn="l">
              <a:defRPr sz="956" b="0">
                <a:solidFill>
                  <a:srgbClr val="ECF8F6"/>
                </a:solidFill>
                <a:latin typeface="Aptos"/>
                <a:ea typeface="Aptos"/>
                <a:cs typeface="Aptos"/>
              </a:defRPr>
            </a:pPr>
            <a:r>
              <a:rPr sz="956" b="0">
                <a:solidFill>
                  <a:srgbClr val="ECF8F6"/>
                </a:solidFill>
                <a:latin typeface="Aptos"/>
                <a:ea typeface="Aptos"/>
                <a:cs typeface="Aptos"/>
              </a:rPr>
              <a:t>GVHD: PGS.TS. Lê Đình Duy | TP. Hồ Chí Minh, 2026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151BEE-112E-404B-A2CC-01BB5ED3F7DF}"/>
              </a:ext>
            </a:extLst>
          </p:cNvPr>
          <p:cNvSpPr>
            <a:spLocks noGrp="1"/>
          </p:cNvSpPr>
          <p:nvPr/>
        </p:nvSpPr>
        <p:spPr>
          <a:xfrm>
            <a:off x="457200" y="2328863"/>
            <a:ext cx="9779794" cy="614363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2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B11CEB7-CD3D-4D67-9AB0-8654FDD5BE7F}"/>
              </a:ext>
            </a:extLst>
          </p:cNvPr>
          <p:cNvSpPr>
            <a:spLocks noGrp="1"/>
          </p:cNvSpPr>
          <p:nvPr/>
        </p:nvSpPr>
        <p:spPr>
          <a:xfrm>
            <a:off x="657225" y="2500313"/>
            <a:ext cx="9379744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16212A"/>
                </a:solidFill>
                <a:latin typeface="Aptos Display"/>
                <a:ea typeface="Aptos Display"/>
                <a:cs typeface="Aptos Display"/>
              </a:defRPr>
            </a:pPr>
            <a:r>
              <a:rPr sz="1238" b="0">
                <a:solidFill>
                  <a:srgbClr val="16212A"/>
                </a:solidFill>
                <a:latin typeface="Aptos Display"/>
                <a:ea typeface="Aptos Display"/>
                <a:cs typeface="Aptos Display"/>
              </a:rPr>
              <a:t>Đề tài biến câu hỏi “dự án có đang rủi ro không?” thành cảnh báo sớm có xác suất và giải thích, giúp nhà quản lý can thiệp đúng thời điểm.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51B570B-0310-4AA2-B437-1D0280A8D6C7}"/>
              </a:ext>
            </a:extLst>
          </p:cNvPr>
          <p:cNvSpPr>
            <a:spLocks noGrp="1"/>
          </p:cNvSpPr>
          <p:nvPr/>
        </p:nvSpPr>
        <p:spPr>
          <a:xfrm>
            <a:off x="457200" y="3200399"/>
            <a:ext cx="3357563" cy="1557337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2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4422B6A-9CE3-4EB9-812A-8412F37FD26F}"/>
              </a:ext>
            </a:extLst>
          </p:cNvPr>
          <p:cNvSpPr>
            <a:spLocks noGrp="1"/>
          </p:cNvSpPr>
          <p:nvPr/>
        </p:nvSpPr>
        <p:spPr>
          <a:xfrm>
            <a:off x="457200" y="3200400"/>
            <a:ext cx="71438" cy="1557336"/>
          </a:xfrm>
          <a:prstGeom prst="rect">
            <a:avLst/>
          </a:prstGeom>
          <a:solidFill>
            <a:srgbClr val="2A9D8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8BCE53A-EC42-4435-9F66-EC92DFDE4934}"/>
              </a:ext>
            </a:extLst>
          </p:cNvPr>
          <p:cNvSpPr>
            <a:spLocks noGrp="1"/>
          </p:cNvSpPr>
          <p:nvPr/>
        </p:nvSpPr>
        <p:spPr>
          <a:xfrm>
            <a:off x="657225" y="3343275"/>
            <a:ext cx="2957513" cy="24288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2A9D8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2A9D8F"/>
                </a:solidFill>
                <a:latin typeface="Aptos Display"/>
                <a:ea typeface="Aptos Display"/>
                <a:cs typeface="Aptos Display"/>
              </a:rPr>
              <a:t>WHAT | LÀ GÌ?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ACC3D9C-6729-4788-87A0-F2E6DA6045C5}"/>
              </a:ext>
            </a:extLst>
          </p:cNvPr>
          <p:cNvSpPr>
            <a:spLocks noGrp="1"/>
          </p:cNvSpPr>
          <p:nvPr/>
        </p:nvSpPr>
        <p:spPr>
          <a:xfrm>
            <a:off x="671512" y="3593306"/>
            <a:ext cx="2957513" cy="87153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1621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6212A"/>
                </a:solidFill>
                <a:latin typeface="Aptos"/>
                <a:ea typeface="Aptos"/>
                <a:cs typeface="Aptos"/>
              </a:rPr>
              <a:t>• Mô hình cảnh báo sớm cho rủi ro vượt chi phí và trễ tiến độ.</a:t>
            </a:r>
          </a:p>
          <a:p>
            <a:pPr algn="l">
              <a:defRPr sz="1013" b="0">
                <a:solidFill>
                  <a:srgbClr val="1621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6212A"/>
                </a:solidFill>
                <a:latin typeface="Aptos"/>
                <a:ea typeface="Aptos"/>
                <a:cs typeface="Aptos"/>
              </a:rPr>
              <a:t>• Kết hợp EVM (PV, EV, AC, CPI, SPI) với học máy.</a:t>
            </a:r>
          </a:p>
          <a:p>
            <a:pPr algn="l">
              <a:defRPr sz="1013" b="0">
                <a:solidFill>
                  <a:srgbClr val="1621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6212A"/>
                </a:solidFill>
                <a:latin typeface="Aptos"/>
                <a:ea typeface="Aptos"/>
                <a:cs typeface="Aptos"/>
              </a:rPr>
              <a:t>• Dự báo Normal / Warning / Critical tại 20%, 40%, 60%.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3942085-E5F6-4943-BBB9-038138F698A2}"/>
              </a:ext>
            </a:extLst>
          </p:cNvPr>
          <p:cNvSpPr>
            <a:spLocks noGrp="1"/>
          </p:cNvSpPr>
          <p:nvPr/>
        </p:nvSpPr>
        <p:spPr>
          <a:xfrm>
            <a:off x="457200" y="4886325"/>
            <a:ext cx="3357563" cy="1500188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2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188B2AD-BEEB-4B94-B1A8-7F03B4E8C32B}"/>
              </a:ext>
            </a:extLst>
          </p:cNvPr>
          <p:cNvSpPr>
            <a:spLocks noGrp="1"/>
          </p:cNvSpPr>
          <p:nvPr/>
        </p:nvSpPr>
        <p:spPr>
          <a:xfrm>
            <a:off x="457200" y="4886325"/>
            <a:ext cx="71438" cy="1500188"/>
          </a:xfrm>
          <a:prstGeom prst="rect">
            <a:avLst/>
          </a:prstGeom>
          <a:solidFill>
            <a:srgbClr val="E49A2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B15ACE2-0D3F-4B5A-9280-697E54EFD17E}"/>
              </a:ext>
            </a:extLst>
          </p:cNvPr>
          <p:cNvSpPr>
            <a:spLocks noGrp="1"/>
          </p:cNvSpPr>
          <p:nvPr/>
        </p:nvSpPr>
        <p:spPr>
          <a:xfrm>
            <a:off x="657225" y="5029200"/>
            <a:ext cx="2957513" cy="24288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E49A2D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E49A2D"/>
                </a:solidFill>
                <a:latin typeface="Aptos Display"/>
                <a:ea typeface="Aptos Display"/>
                <a:cs typeface="Aptos Display"/>
              </a:rPr>
              <a:t>WHY | VÌ SAO CẦN?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A860D35-A3FC-4593-9874-579E4C72D543}"/>
              </a:ext>
            </a:extLst>
          </p:cNvPr>
          <p:cNvSpPr>
            <a:spLocks noGrp="1"/>
          </p:cNvSpPr>
          <p:nvPr/>
        </p:nvSpPr>
        <p:spPr>
          <a:xfrm>
            <a:off x="657225" y="5293518"/>
            <a:ext cx="2957513" cy="87153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1621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6212A"/>
                </a:solidFill>
                <a:latin typeface="Aptos"/>
                <a:ea typeface="Aptos"/>
                <a:cs typeface="Aptos"/>
              </a:rPr>
              <a:t>• Phát hiện muộn làm giảm khả năng can thiệp.</a:t>
            </a:r>
          </a:p>
          <a:p>
            <a:pPr algn="l">
              <a:defRPr sz="1013" b="0">
                <a:solidFill>
                  <a:srgbClr val="1621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6212A"/>
                </a:solidFill>
                <a:latin typeface="Aptos"/>
                <a:ea typeface="Aptos"/>
                <a:cs typeface="Aptos"/>
              </a:rPr>
              <a:t>• EVM truyền thống phụ thuộc ngưỡng, phân tích thủ công và ngoại suy tuyến tính.</a:t>
            </a:r>
          </a:p>
          <a:p>
            <a:pPr algn="l">
              <a:defRPr sz="1013" b="0">
                <a:solidFill>
                  <a:srgbClr val="1621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6212A"/>
                </a:solidFill>
                <a:latin typeface="Aptos"/>
                <a:ea typeface="Aptos"/>
                <a:cs typeface="Aptos"/>
              </a:rPr>
              <a:t>• Cần cảnh báo tự động, có giải thích.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526049E-169E-4D6D-B8C4-E2D0A08FB458}"/>
              </a:ext>
            </a:extLst>
          </p:cNvPr>
          <p:cNvSpPr>
            <a:spLocks noGrp="1"/>
          </p:cNvSpPr>
          <p:nvPr/>
        </p:nvSpPr>
        <p:spPr>
          <a:xfrm>
            <a:off x="4086225" y="3200400"/>
            <a:ext cx="6150769" cy="2928938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2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658439" y="3286125"/>
            <a:ext cx="5006340" cy="2757488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070696E0-0730-43BF-ABD9-C8F1FE5097EF}"/>
              </a:ext>
            </a:extLst>
          </p:cNvPr>
          <p:cNvSpPr>
            <a:spLocks noGrp="1"/>
          </p:cNvSpPr>
          <p:nvPr/>
        </p:nvSpPr>
        <p:spPr>
          <a:xfrm>
            <a:off x="4200525" y="6172200"/>
            <a:ext cx="585787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88" b="0">
                <a:solidFill>
                  <a:srgbClr val="51606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1606C"/>
                </a:solidFill>
                <a:latin typeface="Aptos"/>
                <a:ea typeface="Aptos"/>
                <a:cs typeface="Aptos"/>
              </a:rPr>
              <a:t>Cảnh báo sớm tại các mốc 20/40/60% vòng đời dự án.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DD5C47C-88CD-4AF4-993C-C486D071CBAE}"/>
              </a:ext>
            </a:extLst>
          </p:cNvPr>
          <p:cNvSpPr>
            <a:spLocks noGrp="1"/>
          </p:cNvSpPr>
          <p:nvPr/>
        </p:nvSpPr>
        <p:spPr>
          <a:xfrm>
            <a:off x="457200" y="6686550"/>
            <a:ext cx="9779794" cy="3071813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2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0D0F98C-512F-4D93-B873-5071B424CE59}"/>
              </a:ext>
            </a:extLst>
          </p:cNvPr>
          <p:cNvSpPr>
            <a:spLocks noGrp="1"/>
          </p:cNvSpPr>
          <p:nvPr/>
        </p:nvSpPr>
        <p:spPr>
          <a:xfrm>
            <a:off x="457200" y="6686550"/>
            <a:ext cx="9779794" cy="442913"/>
          </a:xfrm>
          <a:prstGeom prst="rect">
            <a:avLst/>
          </a:prstGeom>
          <a:solidFill>
            <a:srgbClr val="153B4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643E064-48D3-43BC-BE21-141B146C7E6B}"/>
              </a:ext>
            </a:extLst>
          </p:cNvPr>
          <p:cNvSpPr>
            <a:spLocks noGrp="1"/>
          </p:cNvSpPr>
          <p:nvPr/>
        </p:nvSpPr>
        <p:spPr>
          <a:xfrm>
            <a:off x="657225" y="6757988"/>
            <a:ext cx="4857750" cy="24288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06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406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OVERVIEW | QUY TRÌNH TỔNG QUAN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CC732B0-954E-4485-8D58-55A553A83228}"/>
              </a:ext>
            </a:extLst>
          </p:cNvPr>
          <p:cNvSpPr>
            <a:spLocks noGrp="1"/>
          </p:cNvSpPr>
          <p:nvPr/>
        </p:nvSpPr>
        <p:spPr>
          <a:xfrm>
            <a:off x="5643563" y="6793706"/>
            <a:ext cx="4286250" cy="2000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D7F2E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7F2EE"/>
                </a:solidFill>
                <a:latin typeface="Aptos"/>
                <a:ea typeface="Aptos"/>
                <a:cs typeface="Aptos"/>
              </a:rPr>
              <a:t>Dữ liệu dự án -&gt; nhãn rủi ro -&gt; mô hình -&gt; giải thích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B34F4FA-5EA9-4ECE-AC41-04C492B6D74C}"/>
              </a:ext>
            </a:extLst>
          </p:cNvPr>
          <p:cNvSpPr>
            <a:spLocks noGrp="1"/>
          </p:cNvSpPr>
          <p:nvPr/>
        </p:nvSpPr>
        <p:spPr>
          <a:xfrm>
            <a:off x="657225" y="7258050"/>
            <a:ext cx="9344025" cy="2085975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2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2654094" y="7300913"/>
            <a:ext cx="5350287" cy="2000250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678018A0-8CB7-443E-BF55-E92A0B543D70}"/>
              </a:ext>
            </a:extLst>
          </p:cNvPr>
          <p:cNvSpPr>
            <a:spLocks noGrp="1"/>
          </p:cNvSpPr>
          <p:nvPr/>
        </p:nvSpPr>
        <p:spPr>
          <a:xfrm>
            <a:off x="685800" y="9429750"/>
            <a:ext cx="9286875" cy="257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69" b="0">
                <a:solidFill>
                  <a:srgbClr val="1621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6212A"/>
                </a:solidFill>
                <a:latin typeface="Aptos"/>
                <a:ea typeface="Aptos"/>
                <a:cs typeface="Aptos"/>
              </a:rPr>
              <a:t>Chuỗi xử lý: EVM + biến quản trị -&gt; kiểm chứng dữ liệu -&gt; phân cụm K-means/GMM -&gt; đặc trưng sớm -&gt; so sánh mô hình -&gt; SHAP.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24DD573-BAD7-4DE4-BB5F-996CFA6CDF95}"/>
              </a:ext>
            </a:extLst>
          </p:cNvPr>
          <p:cNvSpPr>
            <a:spLocks noGrp="1"/>
          </p:cNvSpPr>
          <p:nvPr/>
        </p:nvSpPr>
        <p:spPr>
          <a:xfrm>
            <a:off x="457200" y="9929813"/>
            <a:ext cx="9779794" cy="3000375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2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0FFE8D3-9320-486B-8F1B-7AEB6B3C2DB1}"/>
              </a:ext>
            </a:extLst>
          </p:cNvPr>
          <p:cNvSpPr>
            <a:spLocks noGrp="1"/>
          </p:cNvSpPr>
          <p:nvPr/>
        </p:nvSpPr>
        <p:spPr>
          <a:xfrm>
            <a:off x="657225" y="10115550"/>
            <a:ext cx="4572000" cy="257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06" b="1">
                <a:solidFill>
                  <a:srgbClr val="153B45"/>
                </a:solidFill>
                <a:latin typeface="Aptos Display"/>
                <a:ea typeface="Aptos Display"/>
                <a:cs typeface="Aptos Display"/>
              </a:defRPr>
            </a:pPr>
            <a:r>
              <a:rPr sz="1406" b="1">
                <a:solidFill>
                  <a:srgbClr val="153B45"/>
                </a:solidFill>
                <a:latin typeface="Aptos Display"/>
                <a:ea typeface="Aptos Display"/>
                <a:cs typeface="Aptos Display"/>
              </a:rPr>
              <a:t>DESCRIPTION | MÔ TẢ NGHIÊN CỨU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00EB28B-B666-4D95-B754-1716E87BE64D}"/>
              </a:ext>
            </a:extLst>
          </p:cNvPr>
          <p:cNvSpPr>
            <a:spLocks noGrp="1"/>
          </p:cNvSpPr>
          <p:nvPr/>
        </p:nvSpPr>
        <p:spPr>
          <a:xfrm>
            <a:off x="657225" y="10501313"/>
            <a:ext cx="4643438" cy="2014538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2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849244" y="10558463"/>
            <a:ext cx="4259400" cy="1900238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0E83A749-515B-45A6-9A83-50B181CD04E1}"/>
              </a:ext>
            </a:extLst>
          </p:cNvPr>
          <p:cNvSpPr>
            <a:spLocks noGrp="1"/>
          </p:cNvSpPr>
          <p:nvPr/>
        </p:nvSpPr>
        <p:spPr>
          <a:xfrm>
            <a:off x="785813" y="12587288"/>
            <a:ext cx="4357688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88" b="0">
                <a:solidFill>
                  <a:srgbClr val="51606C"/>
                </a:solidFill>
                <a:latin typeface="Aptos"/>
                <a:ea typeface="Aptos"/>
                <a:cs typeface="Aptos"/>
              </a:defRPr>
            </a:pPr>
            <a:r>
              <a:rPr lang="en-US" sz="900">
                <a:solidFill>
                  <a:srgbClr val="51606C"/>
                </a:solidFill>
                <a:latin typeface="Aptos"/>
                <a:ea typeface="Aptos"/>
                <a:cs typeface="Aptos"/>
              </a:rPr>
              <a:t>Ví dụ giao diện c</a:t>
            </a:r>
            <a:r>
              <a:rPr sz="900" b="0">
                <a:solidFill>
                  <a:srgbClr val="51606C"/>
                </a:solidFill>
                <a:latin typeface="Aptos"/>
                <a:ea typeface="Aptos"/>
                <a:cs typeface="Aptos"/>
              </a:rPr>
              <a:t>ảnh báo kèm giải thích để hỗ trợ quyết định.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7A22C8D-E4C0-436A-9CB8-32E9C26CAD98}"/>
              </a:ext>
            </a:extLst>
          </p:cNvPr>
          <p:cNvSpPr>
            <a:spLocks noGrp="1"/>
          </p:cNvSpPr>
          <p:nvPr/>
        </p:nvSpPr>
        <p:spPr>
          <a:xfrm>
            <a:off x="5643563" y="10415588"/>
            <a:ext cx="4107656" cy="18573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69" b="1">
                <a:solidFill>
                  <a:srgbClr val="2A9D8F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2A9D8F"/>
                </a:solidFill>
                <a:latin typeface="Aptos"/>
                <a:ea typeface="Aptos"/>
                <a:cs typeface="Aptos"/>
              </a:rPr>
              <a:t>Input &amp; Feature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EB767EB-BB8D-4F19-9BBC-FFE00CFD636C}"/>
              </a:ext>
            </a:extLst>
          </p:cNvPr>
          <p:cNvSpPr>
            <a:spLocks noGrp="1"/>
          </p:cNvSpPr>
          <p:nvPr/>
        </p:nvSpPr>
        <p:spPr>
          <a:xfrm>
            <a:off x="5643563" y="10629900"/>
            <a:ext cx="4286250" cy="542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44" b="0">
                <a:solidFill>
                  <a:srgbClr val="16212A"/>
                </a:solidFill>
                <a:latin typeface="Aptos"/>
                <a:ea typeface="Aptos"/>
                <a:cs typeface="Aptos"/>
              </a:defRPr>
            </a:pPr>
            <a:r>
              <a:rPr sz="1000" b="0">
                <a:solidFill>
                  <a:srgbClr val="16212A"/>
                </a:solidFill>
                <a:latin typeface="Aptos"/>
                <a:ea typeface="Aptos"/>
                <a:cs typeface="Aptos"/>
              </a:rPr>
              <a:t>• Chuỗi PV, EV, AC, CV, SV, CPI, SPI theo tháng.</a:t>
            </a:r>
          </a:p>
          <a:p>
            <a:pPr algn="l">
              <a:defRPr sz="844" b="0">
                <a:solidFill>
                  <a:srgbClr val="16212A"/>
                </a:solidFill>
                <a:latin typeface="Aptos"/>
                <a:ea typeface="Aptos"/>
                <a:cs typeface="Aptos"/>
              </a:defRPr>
            </a:pPr>
            <a:r>
              <a:rPr sz="1000" b="0">
                <a:solidFill>
                  <a:srgbClr val="16212A"/>
                </a:solidFill>
                <a:latin typeface="Aptos"/>
                <a:ea typeface="Aptos"/>
                <a:cs typeface="Aptos"/>
              </a:rPr>
              <a:t>• 6 biến rủi ro/quản trị tĩnh.</a:t>
            </a:r>
          </a:p>
          <a:p>
            <a:pPr algn="l">
              <a:defRPr sz="844" b="0">
                <a:solidFill>
                  <a:srgbClr val="16212A"/>
                </a:solidFill>
                <a:latin typeface="Aptos"/>
                <a:ea typeface="Aptos"/>
                <a:cs typeface="Aptos"/>
              </a:defRPr>
            </a:pPr>
            <a:r>
              <a:rPr sz="1000" b="0">
                <a:solidFill>
                  <a:srgbClr val="16212A"/>
                </a:solidFill>
                <a:latin typeface="Aptos"/>
                <a:ea typeface="Aptos"/>
                <a:cs typeface="Aptos"/>
              </a:rPr>
              <a:t>• Đặc trưng tại mốc 20/40/60%: hiện tại, tích lũy, độ dốc, biến thiên.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A0F2A5E-CAB4-45E9-BE8B-9924A1CA7277}"/>
              </a:ext>
            </a:extLst>
          </p:cNvPr>
          <p:cNvSpPr>
            <a:spLocks noGrp="1"/>
          </p:cNvSpPr>
          <p:nvPr/>
        </p:nvSpPr>
        <p:spPr>
          <a:xfrm>
            <a:off x="5643563" y="11301413"/>
            <a:ext cx="4107656" cy="18573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69" b="1">
                <a:solidFill>
                  <a:srgbClr val="E49A2D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E49A2D"/>
                </a:solidFill>
                <a:latin typeface="Aptos"/>
                <a:ea typeface="Aptos"/>
                <a:cs typeface="Aptos"/>
              </a:rPr>
              <a:t>Modeling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6B7C307-5974-4D8D-9057-ACDCE46619C2}"/>
              </a:ext>
            </a:extLst>
          </p:cNvPr>
          <p:cNvSpPr>
            <a:spLocks noGrp="1"/>
          </p:cNvSpPr>
          <p:nvPr/>
        </p:nvSpPr>
        <p:spPr>
          <a:xfrm>
            <a:off x="5643563" y="11515725"/>
            <a:ext cx="4286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44" b="0">
                <a:solidFill>
                  <a:srgbClr val="16212A"/>
                </a:solidFill>
                <a:latin typeface="Aptos"/>
                <a:ea typeface="Aptos"/>
                <a:cs typeface="Aptos"/>
              </a:defRPr>
            </a:pPr>
            <a:r>
              <a:rPr sz="1000" b="0">
                <a:solidFill>
                  <a:srgbClr val="16212A"/>
                </a:solidFill>
                <a:latin typeface="Aptos"/>
                <a:ea typeface="Aptos"/>
                <a:cs typeface="Aptos"/>
              </a:rPr>
              <a:t>• GroupKFold theo Project_ID; class weight / SMOTE.</a:t>
            </a:r>
          </a:p>
          <a:p>
            <a:pPr algn="l">
              <a:defRPr sz="844" b="0">
                <a:solidFill>
                  <a:srgbClr val="16212A"/>
                </a:solidFill>
                <a:latin typeface="Aptos"/>
                <a:ea typeface="Aptos"/>
                <a:cs typeface="Aptos"/>
              </a:defRPr>
            </a:pPr>
            <a:r>
              <a:rPr sz="1000" b="0">
                <a:solidFill>
                  <a:srgbClr val="16212A"/>
                </a:solidFill>
                <a:latin typeface="Aptos"/>
                <a:ea typeface="Aptos"/>
                <a:cs typeface="Aptos"/>
              </a:rPr>
              <a:t>• So sánh baseline EVM, ML baseline và proposed model.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E028304-B607-4894-8EF3-5CCF7D5A7A5C}"/>
              </a:ext>
            </a:extLst>
          </p:cNvPr>
          <p:cNvSpPr>
            <a:spLocks noGrp="1"/>
          </p:cNvSpPr>
          <p:nvPr/>
        </p:nvSpPr>
        <p:spPr>
          <a:xfrm>
            <a:off x="5643563" y="12001500"/>
            <a:ext cx="4107656" cy="18573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69" b="1">
                <a:solidFill>
                  <a:srgbClr val="C94C4C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C94C4C"/>
                </a:solidFill>
                <a:latin typeface="Aptos"/>
                <a:ea typeface="Aptos"/>
                <a:cs typeface="Aptos"/>
              </a:rPr>
              <a:t>Evaluation &amp; Explainability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3EB1970-A944-479B-A668-B831B1822B05}"/>
              </a:ext>
            </a:extLst>
          </p:cNvPr>
          <p:cNvSpPr>
            <a:spLocks noGrp="1"/>
          </p:cNvSpPr>
          <p:nvPr/>
        </p:nvSpPr>
        <p:spPr>
          <a:xfrm>
            <a:off x="5643563" y="12215813"/>
            <a:ext cx="42862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44" b="0">
                <a:solidFill>
                  <a:srgbClr val="16212A"/>
                </a:solidFill>
                <a:latin typeface="Aptos"/>
                <a:ea typeface="Aptos"/>
                <a:cs typeface="Aptos"/>
              </a:defRPr>
            </a:pPr>
            <a:r>
              <a:rPr sz="1000" b="0">
                <a:solidFill>
                  <a:srgbClr val="16212A"/>
                </a:solidFill>
                <a:latin typeface="Aptos"/>
                <a:ea typeface="Aptos"/>
                <a:cs typeface="Aptos"/>
              </a:rPr>
              <a:t>• F1-macro, PR-AUC, ROC-AUC, Recall lớp Critical.</a:t>
            </a:r>
          </a:p>
          <a:p>
            <a:pPr algn="l">
              <a:defRPr sz="844" b="0">
                <a:solidFill>
                  <a:srgbClr val="16212A"/>
                </a:solidFill>
                <a:latin typeface="Aptos"/>
                <a:ea typeface="Aptos"/>
                <a:cs typeface="Aptos"/>
              </a:defRPr>
            </a:pPr>
            <a:r>
              <a:rPr sz="1000" b="0">
                <a:solidFill>
                  <a:srgbClr val="16212A"/>
                </a:solidFill>
                <a:latin typeface="Aptos"/>
                <a:ea typeface="Aptos"/>
                <a:cs typeface="Aptos"/>
              </a:rPr>
              <a:t>• SHAP giải thích toàn cục/cục bộ.</a:t>
            </a:r>
          </a:p>
          <a:p>
            <a:pPr algn="l">
              <a:defRPr sz="844" b="0">
                <a:solidFill>
                  <a:srgbClr val="16212A"/>
                </a:solidFill>
                <a:latin typeface="Aptos"/>
                <a:ea typeface="Aptos"/>
                <a:cs typeface="Aptos"/>
              </a:defRPr>
            </a:pPr>
            <a:r>
              <a:rPr sz="1000" b="0">
                <a:solidFill>
                  <a:srgbClr val="16212A"/>
                </a:solidFill>
                <a:latin typeface="Aptos"/>
                <a:ea typeface="Aptos"/>
                <a:cs typeface="Aptos"/>
              </a:rPr>
              <a:t>• Chọn mốc tối ưu theo đánh đổi độ sớm - độ chính xác.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E522051-5A1D-4F3D-8554-5A5E9C2B2EB9}"/>
              </a:ext>
            </a:extLst>
          </p:cNvPr>
          <p:cNvSpPr>
            <a:spLocks noGrp="1"/>
          </p:cNvSpPr>
          <p:nvPr/>
        </p:nvSpPr>
        <p:spPr>
          <a:xfrm>
            <a:off x="457200" y="13130213"/>
            <a:ext cx="9779794" cy="1200150"/>
          </a:xfrm>
          <a:prstGeom prst="rect">
            <a:avLst/>
          </a:prstGeom>
          <a:solidFill>
            <a:srgbClr val="153B4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3BAE52E-034B-4386-8B39-F5E506AFF390}"/>
              </a:ext>
            </a:extLst>
          </p:cNvPr>
          <p:cNvSpPr>
            <a:spLocks noGrp="1"/>
          </p:cNvSpPr>
          <p:nvPr/>
        </p:nvSpPr>
        <p:spPr>
          <a:xfrm>
            <a:off x="657225" y="13301663"/>
            <a:ext cx="5429250" cy="24288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94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94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EXPECTED OUTPUTS | SẢN PHẨM DỰ KIẾN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3FBA54A-DA20-40FD-838F-3EA5E18F1A58}"/>
              </a:ext>
            </a:extLst>
          </p:cNvPr>
          <p:cNvSpPr>
            <a:spLocks noGrp="1"/>
          </p:cNvSpPr>
          <p:nvPr/>
        </p:nvSpPr>
        <p:spPr>
          <a:xfrm>
            <a:off x="657225" y="13701713"/>
            <a:ext cx="2143125" cy="414338"/>
          </a:xfrm>
          <a:prstGeom prst="rect">
            <a:avLst/>
          </a:prstGeom>
          <a:solidFill>
            <a:srgbClr val="E5F3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0DE70CF-9816-4932-A714-90BA58B246B3}"/>
              </a:ext>
            </a:extLst>
          </p:cNvPr>
          <p:cNvSpPr>
            <a:spLocks noGrp="1"/>
          </p:cNvSpPr>
          <p:nvPr/>
        </p:nvSpPr>
        <p:spPr>
          <a:xfrm>
            <a:off x="757238" y="13787438"/>
            <a:ext cx="1943100" cy="271463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1">
                <a:solidFill>
                  <a:srgbClr val="16212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6212A"/>
                </a:solidFill>
                <a:latin typeface="Aptos"/>
                <a:ea typeface="Aptos"/>
                <a:cs typeface="Aptos"/>
              </a:rPr>
              <a:t>Dữ liệu đã kiểm chứng</a:t>
            </a:r>
          </a:p>
          <a:p>
            <a:pPr algn="ctr">
              <a:defRPr sz="900" b="1">
                <a:solidFill>
                  <a:srgbClr val="16212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6212A"/>
                </a:solidFill>
                <a:latin typeface="Aptos"/>
                <a:ea typeface="Aptos"/>
                <a:cs typeface="Aptos"/>
              </a:rPr>
              <a:t>+ nhãn rủi ro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0BA94C2-9BCA-446D-BBB5-CBD5C8F7EFEB}"/>
              </a:ext>
            </a:extLst>
          </p:cNvPr>
          <p:cNvSpPr>
            <a:spLocks noGrp="1"/>
          </p:cNvSpPr>
          <p:nvPr/>
        </p:nvSpPr>
        <p:spPr>
          <a:xfrm>
            <a:off x="3000375" y="13701713"/>
            <a:ext cx="2143125" cy="414338"/>
          </a:xfrm>
          <a:prstGeom prst="rect">
            <a:avLst/>
          </a:prstGeom>
          <a:solidFill>
            <a:srgbClr val="FFF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72E3610-217A-4B98-90B2-2F86E624937D}"/>
              </a:ext>
            </a:extLst>
          </p:cNvPr>
          <p:cNvSpPr>
            <a:spLocks noGrp="1"/>
          </p:cNvSpPr>
          <p:nvPr/>
        </p:nvSpPr>
        <p:spPr>
          <a:xfrm>
            <a:off x="3100388" y="13787438"/>
            <a:ext cx="1943100" cy="271463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1">
                <a:solidFill>
                  <a:srgbClr val="16212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6212A"/>
                </a:solidFill>
                <a:latin typeface="Aptos"/>
                <a:ea typeface="Aptos"/>
                <a:cs typeface="Aptos"/>
              </a:rPr>
              <a:t>Hệ thống phân loại</a:t>
            </a:r>
          </a:p>
          <a:p>
            <a:pPr algn="ctr">
              <a:defRPr sz="900" b="1">
                <a:solidFill>
                  <a:srgbClr val="16212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6212A"/>
                </a:solidFill>
                <a:latin typeface="Aptos"/>
                <a:ea typeface="Aptos"/>
                <a:cs typeface="Aptos"/>
              </a:rPr>
              <a:t>cảnh báo sớm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5595853-E752-49E1-B061-4763B3D6AC87}"/>
              </a:ext>
            </a:extLst>
          </p:cNvPr>
          <p:cNvSpPr>
            <a:spLocks noGrp="1"/>
          </p:cNvSpPr>
          <p:nvPr/>
        </p:nvSpPr>
        <p:spPr>
          <a:xfrm>
            <a:off x="5343525" y="13701713"/>
            <a:ext cx="2143125" cy="414338"/>
          </a:xfrm>
          <a:prstGeom prst="rect">
            <a:avLst/>
          </a:prstGeom>
          <a:solidFill>
            <a:srgbClr val="FBE7E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29CB5778-2D78-4E95-AD01-C0CB2139E5E3}"/>
              </a:ext>
            </a:extLst>
          </p:cNvPr>
          <p:cNvSpPr>
            <a:spLocks noGrp="1"/>
          </p:cNvSpPr>
          <p:nvPr/>
        </p:nvSpPr>
        <p:spPr>
          <a:xfrm>
            <a:off x="5443538" y="13787438"/>
            <a:ext cx="1943100" cy="271463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1">
                <a:solidFill>
                  <a:srgbClr val="16212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6212A"/>
                </a:solidFill>
                <a:latin typeface="Aptos"/>
                <a:ea typeface="Aptos"/>
                <a:cs typeface="Aptos"/>
              </a:rPr>
              <a:t>Báo cáo giải thích</a:t>
            </a:r>
          </a:p>
          <a:p>
            <a:pPr algn="ctr">
              <a:defRPr sz="900" b="1">
                <a:solidFill>
                  <a:srgbClr val="16212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6212A"/>
                </a:solidFill>
                <a:latin typeface="Aptos"/>
                <a:ea typeface="Aptos"/>
                <a:cs typeface="Aptos"/>
              </a:rPr>
              <a:t>SHAP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7F5FCFED-6615-4F94-99BB-8223F08AAA38}"/>
              </a:ext>
            </a:extLst>
          </p:cNvPr>
          <p:cNvSpPr>
            <a:spLocks noGrp="1"/>
          </p:cNvSpPr>
          <p:nvPr/>
        </p:nvSpPr>
        <p:spPr>
          <a:xfrm>
            <a:off x="7686675" y="13701713"/>
            <a:ext cx="2143125" cy="414338"/>
          </a:xfrm>
          <a:prstGeom prst="rect">
            <a:avLst/>
          </a:prstGeom>
          <a:solidFill>
            <a:srgbClr val="EDEAF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8BECCD56-A633-4189-B213-A472C87D855A}"/>
              </a:ext>
            </a:extLst>
          </p:cNvPr>
          <p:cNvSpPr>
            <a:spLocks noGrp="1"/>
          </p:cNvSpPr>
          <p:nvPr/>
        </p:nvSpPr>
        <p:spPr>
          <a:xfrm>
            <a:off x="7786688" y="13787438"/>
            <a:ext cx="1943100" cy="271463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1">
                <a:solidFill>
                  <a:srgbClr val="16212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6212A"/>
                </a:solidFill>
                <a:latin typeface="Aptos"/>
                <a:ea typeface="Aptos"/>
                <a:cs typeface="Aptos"/>
              </a:rPr>
              <a:t>Khuyến nghị tích hợp</a:t>
            </a:r>
          </a:p>
          <a:p>
            <a:pPr algn="ctr">
              <a:defRPr sz="900" b="1">
                <a:solidFill>
                  <a:srgbClr val="16212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6212A"/>
                </a:solidFill>
                <a:latin typeface="Aptos"/>
                <a:ea typeface="Aptos"/>
                <a:cs typeface="Aptos"/>
              </a:rPr>
              <a:t>vào dashboard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40BBCB8-8C3E-4286-9704-641640D9AD06}"/>
              </a:ext>
            </a:extLst>
          </p:cNvPr>
          <p:cNvSpPr>
            <a:spLocks noGrp="1"/>
          </p:cNvSpPr>
          <p:nvPr/>
        </p:nvSpPr>
        <p:spPr>
          <a:xfrm>
            <a:off x="457200" y="14573250"/>
            <a:ext cx="9779794" cy="18573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88" b="0">
                <a:solidFill>
                  <a:srgbClr val="51606C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1606C"/>
                </a:solidFill>
                <a:latin typeface="Aptos"/>
                <a:ea typeface="Aptos"/>
                <a:cs typeface="Aptos"/>
              </a:rPr>
              <a:t>Từ khóa: Earned Value Management | Early-warning classification | Explainable ML | SHAP | Project risk management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BB3B9739-1596-4124-979A-952B0367C375}"/>
              </a:ext>
            </a:extLst>
          </p:cNvPr>
          <p:cNvSpPr>
            <a:spLocks noGrp="1"/>
          </p:cNvSpPr>
          <p:nvPr/>
        </p:nvSpPr>
        <p:spPr>
          <a:xfrm>
            <a:off x="457200" y="14801850"/>
            <a:ext cx="9779794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31" b="0">
                <a:solidFill>
                  <a:srgbClr val="51606C"/>
                </a:solidFill>
                <a:latin typeface="Aptos"/>
                <a:ea typeface="Aptos"/>
                <a:cs typeface="Aptos"/>
              </a:defRPr>
            </a:pPr>
            <a:endParaRPr sz="731" b="0">
              <a:solidFill>
                <a:srgbClr val="51606C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92456069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453</Words>
  <Application>Microsoft Office PowerPoint</Application>
  <DocSecurity>0</DocSecurity>
  <PresentationFormat>Custom</PresentationFormat>
  <Paragraphs>42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Calibri</vt:lpstr>
      <vt:lpstr>ChatGPT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Sang Nguyen</cp:lastModifiedBy>
  <cp:revision>9</cp:revision>
  <dcterms:created xsi:type="dcterms:W3CDTF">2026-06-12T17:59:20Z</dcterms:created>
  <dcterms:modified xsi:type="dcterms:W3CDTF">2026-06-13T01:11:35Z</dcterms:modified>
</cp:coreProperties>
</file>