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5143500" cx="9144000"/>
  <p:notesSz cx="6858000" cy="9144000"/>
  <p:embeddedFontLst>
    <p:embeddedFont>
      <p:font typeface="Roboto"/>
      <p:regular r:id="rId13"/>
      <p:bold r:id="rId14"/>
      <p:italic r:id="rId15"/>
      <p:boldItalic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Roboto-regular.fntdata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Roboto-italic.fntdata"/><Relationship Id="rId14" Type="http://schemas.openxmlformats.org/officeDocument/2006/relationships/font" Target="fonts/Roboto-bold.fntdata"/><Relationship Id="rId16" Type="http://schemas.openxmlformats.org/officeDocument/2006/relationships/font" Target="fonts/Roboto-bold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0d8a3913ea_0_0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0d8a3913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10d8a3913ea_0_62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10d8a3913ea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5fe14d3b49_0_30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5fe14d3b49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10d8a3913ea_0_124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10d8a3913ea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eee7f97eec_0_1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eee7f97eec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10d8a3913ea_0_129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10d8a3913ea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10d8a3913ea_0_134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10d8a3913ea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10d8a3913ea_0_139:notes"/>
          <p:cNvSpPr/>
          <p:nvPr>
            <p:ph idx="2" type="sldImg"/>
          </p:nvPr>
        </p:nvSpPr>
        <p:spPr>
          <a:xfrm>
            <a:off x="381175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10d8a3913ea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- R01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fmla="val 16667" name="adj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- R01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- R01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 flipH="1" rot="10800000">
            <a:off x="0" y="728400"/>
            <a:ext cx="9144000" cy="408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4"/>
          <p:cNvSpPr/>
          <p:nvPr/>
        </p:nvSpPr>
        <p:spPr>
          <a:xfrm>
            <a:off x="0" y="711888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4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68300" lvl="0" marL="45720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Char char="●"/>
              <a:defRPr sz="2200">
                <a:solidFill>
                  <a:srgbClr val="000000"/>
                </a:solidFill>
              </a:defRPr>
            </a:lvl1pPr>
            <a:lvl2pPr indent="-355600" lvl="1" marL="9144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Char char="○"/>
              <a:defRPr sz="2000">
                <a:solidFill>
                  <a:srgbClr val="000000"/>
                </a:solidFill>
              </a:defRPr>
            </a:lvl2pPr>
            <a:lvl3pPr indent="-342900" lvl="2" marL="1371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■"/>
              <a:defRPr sz="1800">
                <a:solidFill>
                  <a:srgbClr val="000000"/>
                </a:solidFill>
              </a:defRPr>
            </a:lvl3pPr>
            <a:lvl4pPr indent="-330200" lvl="3" marL="18288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  <a:defRPr sz="1600">
                <a:solidFill>
                  <a:srgbClr val="000000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>
                <a:solidFill>
                  <a:srgbClr val="000000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●"/>
              <a:defRPr>
                <a:solidFill>
                  <a:srgbClr val="000000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Char char="○"/>
              <a:defRPr>
                <a:solidFill>
                  <a:srgbClr val="000000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2" type="sldNum"/>
          </p:nvPr>
        </p:nvSpPr>
        <p:spPr>
          <a:xfrm>
            <a:off x="8523550" y="4813799"/>
            <a:ext cx="548700" cy="275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" name="Google Shape;22;p4"/>
          <p:cNvSpPr txBox="1"/>
          <p:nvPr/>
        </p:nvSpPr>
        <p:spPr>
          <a:xfrm>
            <a:off x="471900" y="4803525"/>
            <a:ext cx="8133300" cy="29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UIT.CS2205.ResearchMethodology</a:t>
            </a:r>
            <a:endParaRPr b="1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5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/>
          <p:nvPr/>
        </p:nvSpPr>
        <p:spPr>
          <a:xfrm flipH="1" rot="10800000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6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4" name="Google Shape;34;p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/>
        </p:nvSpPr>
        <p:spPr>
          <a:xfrm flipH="1" rot="10800000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43" name="Google Shape;43;p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9"/>
          <p:cNvSpPr txBox="1"/>
          <p:nvPr>
            <p:ph idx="1" type="subTitle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9" name="Google Shape;4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0" name="Google Shape;50;p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0"/>
          <p:cNvSpPr txBox="1"/>
          <p:nvPr/>
        </p:nvSpPr>
        <p:spPr>
          <a:xfrm flipH="1" rot="10800000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10"/>
          <p:cNvSpPr/>
          <p:nvPr/>
        </p:nvSpPr>
        <p:spPr>
          <a:xfrm flipH="1" rot="10800000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0"/>
          <p:cNvSpPr txBox="1"/>
          <p:nvPr>
            <p:ph idx="1" type="body"/>
          </p:nvPr>
        </p:nvSpPr>
        <p:spPr>
          <a:xfrm>
            <a:off x="57150" y="4163425"/>
            <a:ext cx="8382000" cy="44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55" name="Google Shape;55;p10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4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 txBox="1"/>
          <p:nvPr>
            <p:ph hasCustomPrompt="1" type="title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" name="Google Shape;58;p11"/>
          <p:cNvSpPr txBox="1"/>
          <p:nvPr>
            <p:ph idx="1" type="body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9" name="Google Shape;59;p1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4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terial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460950" y="10199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800"/>
              <a:t>MÔ HÌNH CẢNH BÁO SỚM </a:t>
            </a:r>
            <a:endParaRPr b="1" sz="38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800"/>
              <a:t>CÓ GIẢI THÍCH CHO RỦI RO </a:t>
            </a:r>
            <a:br>
              <a:rPr b="1" lang="en" sz="3800"/>
            </a:br>
            <a:r>
              <a:rPr b="1" lang="en" sz="3800"/>
              <a:t>TRONG CÁC DỰ ÁN DỰA TRÊN EARNED VALUE MANAGEMENT</a:t>
            </a:r>
            <a:endParaRPr b="1" sz="3800"/>
          </a:p>
        </p:txBody>
      </p:sp>
      <p:sp>
        <p:nvSpPr>
          <p:cNvPr id="67" name="Google Shape;67;p13"/>
          <p:cNvSpPr txBox="1"/>
          <p:nvPr>
            <p:ph type="title"/>
          </p:nvPr>
        </p:nvSpPr>
        <p:spPr>
          <a:xfrm>
            <a:off x="2168700" y="3349975"/>
            <a:ext cx="48066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00"/>
              <a:t>Nguyễn Thanh Sang - 250104051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Tóm tắt 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/>
              <a:t>Lớp: CS2205.</a:t>
            </a:r>
            <a:r>
              <a:rPr lang="en"/>
              <a:t>JAN2026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/>
              <a:t>Link Github của nhóm: https://github.com/sang1833/CS2205.JAN2026</a:t>
            </a:r>
            <a:endParaRPr/>
          </a:p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Link YouTube video: </a:t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68300" lvl="0" marL="457200" rtl="0" algn="l">
              <a:spcBef>
                <a:spcPts val="160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Tên: Nguyễn Thanh Sang</a:t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9144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800"/>
          </a:p>
        </p:txBody>
      </p:sp>
      <p:pic>
        <p:nvPicPr>
          <p:cNvPr id="74" name="Google Shape;74;p14" title="unnamed (14)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3725" y="2103850"/>
            <a:ext cx="2093651" cy="2870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Giới thiệu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69550" y="864000"/>
            <a:ext cx="8222100" cy="39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Font typeface="Arial"/>
              <a:buChar char="●"/>
            </a:pPr>
            <a:r>
              <a:rPr lang="en" sz="2100"/>
              <a:t>Vượt chi phí và trễ tiến độ là rủi ro phổ biến, tốn kém trong quản trị dự án.</a:t>
            </a:r>
            <a:endParaRPr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Font typeface="Arial"/>
              <a:buChar char="●"/>
            </a:pPr>
            <a:r>
              <a:rPr lang="en" sz="2100"/>
              <a:t>EVM (Earned Value Management)</a:t>
            </a:r>
            <a:endParaRPr sz="2100"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100"/>
              <a:t>là 1 loại chỉ số quản lý thời gian </a:t>
            </a:r>
            <a:endParaRPr sz="2100"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100"/>
              <a:t>và ngân sách dự án qua các </a:t>
            </a:r>
            <a:endParaRPr sz="2100"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100"/>
              <a:t>chỉ số như Actual Cost (AC), </a:t>
            </a:r>
            <a:endParaRPr sz="2100"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100"/>
              <a:t>Earned Value (EV),...</a:t>
            </a:r>
            <a:endParaRPr sz="2100"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9144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800"/>
          </a:p>
        </p:txBody>
      </p:sp>
      <p:pic>
        <p:nvPicPr>
          <p:cNvPr id="81" name="Google Shape;8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2750" y="1897250"/>
            <a:ext cx="4455125" cy="2750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6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Mục tiêu</a:t>
            </a:r>
            <a:endParaRPr/>
          </a:p>
        </p:txBody>
      </p:sp>
      <p:sp>
        <p:nvSpPr>
          <p:cNvPr id="87" name="Google Shape;87;p16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/>
              <a:t>Khoảng trống: chưa kết hợp chuỗi EVM, biến quản trị/rủi ro, cảnh báo sớm đa mốc và xAI.</a:t>
            </a:r>
            <a:endParaRPr/>
          </a:p>
          <a:p>
            <a:pPr indent="-368300" lvl="0" marL="457200" rtl="0" algn="l">
              <a:spcBef>
                <a:spcPts val="160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Xây dựng bộ dữ liệu EVM đã kiểm chứng và nhãn rủi ro.</a:t>
            </a:r>
            <a:endParaRPr/>
          </a:p>
          <a:p>
            <a:pPr indent="-368300" lvl="0" marL="457200" rtl="0" algn="l"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Phát triển mô hình phân loại cảnh báo sớm tại các mốc thời gian trong vòng đời dự án.</a:t>
            </a:r>
            <a:endParaRPr/>
          </a:p>
          <a:p>
            <a:pPr indent="-368300" lvl="0" marL="457200" rtl="0" algn="l"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Giải thích toàn cục/cục bộ bằng SHAP (XAI) và phân tích sự đánh đổi earliness-accuracy để khuyến nghị thời điểm can thiệp hợp lý.</a:t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9144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Nội dung và Phương pháp</a:t>
            </a:r>
            <a:endParaRPr/>
          </a:p>
        </p:txBody>
      </p:sp>
      <p:sp>
        <p:nvSpPr>
          <p:cNvPr id="93" name="Google Shape;93;p17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/>
              <a:t>Tổng hợp EVM, Earned Schedule, ECTS, XAI/SHAP và xử lý mất cân bằng dữ liệu.</a:t>
            </a:r>
            <a:endParaRPr/>
          </a:p>
          <a:p>
            <a:pPr indent="-368300" lvl="0" marL="457200" rtl="0" algn="l">
              <a:spcBef>
                <a:spcPts val="100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/>
              <a:t>Dataset validation: kiểm tra CPI=EV/AC, SPI=EV/PV, phân bố CPI/SPI/delay và tương quan logic.</a:t>
            </a:r>
            <a:endParaRPr/>
          </a:p>
          <a:p>
            <a:pPr indent="-368300" lvl="0" marL="457200" rtl="0" algn="l">
              <a:spcBef>
                <a:spcPts val="100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/>
              <a:t>Gán nhãn: K-means/GMM trên Schedule_Delay + Cost_Overrun; đánh giá Silhouette và Davies-Bouldin.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9144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8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Nội dung và Phương pháp</a:t>
            </a:r>
            <a:endParaRPr/>
          </a:p>
        </p:txBody>
      </p:sp>
      <p:sp>
        <p:nvSpPr>
          <p:cNvPr id="99" name="Google Shape;99;p18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/>
              <a:t>Trích đặc trưng ở các mốc thời gian (ví dụ 20/40/60%): EVM tại mốc T, tích lũy, độ dốc/biến thiên CPI-SPI và sáu biến tĩnh.</a:t>
            </a:r>
            <a:endParaRPr/>
          </a:p>
          <a:p>
            <a:pPr indent="-368300" lvl="0" marL="457200" rtl="0" algn="l">
              <a:spcBef>
                <a:spcPts val="1000"/>
              </a:spcBef>
              <a:spcAft>
                <a:spcPts val="0"/>
              </a:spcAft>
              <a:buSzPts val="2200"/>
              <a:buFont typeface="Arial"/>
              <a:buChar char="●"/>
            </a:pPr>
            <a:r>
              <a:rPr lang="en"/>
              <a:t>Huấn luyện/đánh giá: GroupKFold theo Project_ID; F1-macro, PR-AUC, ROC-AUC, Recall Critical; giải thích bằng SHAP và áp dụng earliness-accuracy.</a:t>
            </a:r>
            <a:endParaRPr/>
          </a:p>
          <a:p>
            <a:pPr indent="0" lvl="0" marL="45720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9144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800"/>
          </a:p>
        </p:txBody>
      </p:sp>
      <p:pic>
        <p:nvPicPr>
          <p:cNvPr id="100" name="Google Shape;10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62950" y="2568775"/>
            <a:ext cx="3064826" cy="2383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33849" y="2952537"/>
            <a:ext cx="3448475" cy="1776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Kết quả dự kiến</a:t>
            </a:r>
            <a:endParaRPr/>
          </a:p>
        </p:txBody>
      </p:sp>
      <p:sp>
        <p:nvSpPr>
          <p:cNvPr id="107" name="Google Shape;107;p19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Sản phẩm 1: bộ dữ liệu đã kiểm chứng, bộ nhãn Outcome Risk Class và đặc trưng tại 20/40/60%.</a:t>
            </a:r>
            <a:endParaRPr/>
          </a:p>
          <a:p>
            <a:pPr indent="-3683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Sản phẩm 2: hệ thống phân loại cảnh báo sớm và bảng so sánh baseline EVM/ML/proposed model.</a:t>
            </a:r>
            <a:endParaRPr/>
          </a:p>
          <a:p>
            <a:pPr indent="-3683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lang="en"/>
              <a:t>Sản phẩm 3: báo cáo SHAP toàn cục/cục bộ, đường cong earliness-accuracy và khuyến nghị dashboard.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9144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/>
          <p:nvPr>
            <p:ph type="title"/>
          </p:nvPr>
        </p:nvSpPr>
        <p:spPr>
          <a:xfrm>
            <a:off x="471900" y="57875"/>
            <a:ext cx="8222100" cy="67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Tài liệu tham khảo</a:t>
            </a:r>
            <a:endParaRPr/>
          </a:p>
        </p:txBody>
      </p:sp>
      <p:sp>
        <p:nvSpPr>
          <p:cNvPr id="113" name="Google Shape;113;p20"/>
          <p:cNvSpPr txBox="1"/>
          <p:nvPr>
            <p:ph idx="1" type="body"/>
          </p:nvPr>
        </p:nvSpPr>
        <p:spPr>
          <a:xfrm>
            <a:off x="471900" y="820500"/>
            <a:ext cx="8222100" cy="390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[1] Emad Soliman, Khalid A. Alrasheed, Saud Alghanim, Emad Morsi: Integrating risk management and earned value framework to detect early warning signs - Case study. Journal of Engineering Research 13: 2109-2116 (2025).</a:t>
            </a:r>
            <a:endParaRPr sz="1400"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[2] Tolga Narbaev, Öncü Hazir, Balzhan Khamitova, Sezdbek Talgat: A machine learning study to improve the reliability of project cost estimates. International Journal of Production Research 62(12): 4372-4388 (2024).</a:t>
            </a:r>
            <a:endParaRPr sz="1400"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[3] José Ignacio Santos, María Pereda, Virginia Ahedo, José Manuel Galán: Explainable machine learning for project management control. Computers &amp; Industrial Engineering 180: 109261 (2023).</a:t>
            </a:r>
            <a:endParaRPr sz="1400"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[4] Filippo Maria Ottaviani, Pablo Ballesteros-Pérez, Tolga Narbaev: Automated machine learning pipeline for robust project cost and duration forecasting. Automation in Construction 178: 106426 (2025).</a:t>
            </a:r>
            <a:endParaRPr sz="1400"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[5] Aurélien Renault, Alexis Bondu, Antoine Cornuéjols, Vincent Lemaire: Early Classification of Time Series: A Survey and Benchmark. Transactions on Machine Learning Research (2025).</a:t>
            </a:r>
            <a:endParaRPr sz="1400"/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[6] Project Management Institute: A Guide to the Project Management Body of Knowledge (PMBOK Guide) - Eighth Edition and The Standard for Project Management. Project Management Institute, Newtown Square, PA, USA (2025).</a:t>
            </a:r>
            <a:endParaRPr sz="1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terial - R01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